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D2B6E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D2B6E"/>
                </a:solidFill>
                <a:latin typeface="Arial"/>
              </a:rPr>
              <a:t>AWS Operation Response Times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Time (ms)</c:v>
                </c:pt>
              </c:strCache>
            </c:strRef>
          </c:tx>
          <c:spPr>
            <a:solidFill>
              <a:srgbClr val="1A56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D2B6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Evidence
Capture</c:v>
                  </c:pt>
                  <c:pt idx="1">
                    <c:v>S3 Upload</c:v>
                  </c:pt>
                  <c:pt idx="2">
                    <c:v>DynamoDB
Write</c:v>
                  </c:pt>
                  <c:pt idx="3">
                    <c:v>KMS
Encrypt</c:v>
                  </c:pt>
                  <c:pt idx="4">
                    <c:v>SNS Alert</c:v>
                  </c:pt>
                  <c:pt idx="5">
                    <c:v>Full
Pipeline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210</c:v>
                </c:pt>
                <c:pt idx="1">
                  <c:v>320</c:v>
                </c:pt>
                <c:pt idx="2">
                  <c:v>95</c:v>
                </c:pt>
                <c:pt idx="3">
                  <c:v>185</c:v>
                </c:pt>
                <c:pt idx="4">
                  <c:v>160</c:v>
                </c:pt>
                <c:pt idx="5">
                  <c:v>560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D2B6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5603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·  REVIEW PRESENTATION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Witness System for</a:t>
            </a:r>
            <a:endParaRPr lang="en-US" sz="3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and Secure</a:t>
            </a:r>
            <a:endParaRPr lang="en-US" sz="3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Collection Using AWS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7280" y="3090672"/>
            <a:ext cx="6949440" cy="6400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324612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367588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Archana (E1225009)          A. Mahalakshmi (E1225046)          S. Evanglin Monica (E1225025)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274320" y="41605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:  Mrs. A. Tamizhselvi,  M.E.,  Assistant Professor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44805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68096"/>
            <a:ext cx="8321040" cy="54864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420624" cy="47548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32688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05256" y="932688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automated system to capture digital evidence during emergencies.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420624" cy="47548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54480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05256" y="1554480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audio, images, GPS location and timestamps in real time.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11480" y="2176272"/>
            <a:ext cx="420624" cy="47548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76272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05256" y="2176272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all evidence in a tamper-proof, encrypted cloud environment using AWS.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11480" y="2798064"/>
            <a:ext cx="420624" cy="47548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98064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05256" y="2798064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instant alert notifications to authorized contacts and authorities automatically.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11480" y="3419856"/>
            <a:ext cx="420624" cy="47548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19856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5256" y="3419856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data integrity, confidentiality and role-based access control at all times.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11480" y="4041648"/>
            <a:ext cx="420624" cy="47548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041648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5256" y="4041648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scalable, serverless and legally admissible evidence management system.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68096"/>
            <a:ext cx="8321040" cy="54864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64008" cy="111556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14400"/>
            <a:ext cx="8138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Witness System is a cloud-based emergency evidence platform built on Amazon Web Services (AWS). When a user presses the emergency button, the system instantly captures audio, images, GPS location and a timestamp — all automatically.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11480" y="2148840"/>
            <a:ext cx="8321040" cy="0"/>
          </a:xfrm>
          <a:prstGeom prst="line">
            <a:avLst/>
          </a:prstGeom>
          <a:noFill/>
          <a:ln w="7620">
            <a:solidFill>
              <a:srgbClr val="C0C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240280"/>
            <a:ext cx="64008" cy="111556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40280"/>
            <a:ext cx="8138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sent over HTTPS to AWS Lambda for processing, encrypted using AWS KMS, then stored in Amazon S3 (tamper-proof). Case metadata is written to DynamoDB. IAM enforces access control and CloudTrail maintains a complete forensic audit log.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11480" y="3474720"/>
            <a:ext cx="8321040" cy="0"/>
          </a:xfrm>
          <a:prstGeom prst="line">
            <a:avLst/>
          </a:prstGeom>
          <a:noFill/>
          <a:ln w="7620">
            <a:solidFill>
              <a:srgbClr val="C0CD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3566160"/>
            <a:ext cx="64008" cy="111556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566160"/>
            <a:ext cx="8138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SNS dispatches real-time SMS and email alerts to pre-registered contacts. The fully serverless design means zero infrastructure management and unlimited scalability — closing the gap left by existing systems that only send location alerts.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68096"/>
            <a:ext cx="8321040" cy="54864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207008"/>
          </a:xfrm>
          <a:prstGeom prst="rect">
            <a:avLst/>
          </a:prstGeom>
          <a:solidFill>
            <a:srgbClr val="EBF3FB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09728" cy="120700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IEEE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1005840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"Binar Bits: A Tech Blog Website Platform Hosted on AWS EC2"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38988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AWS EC2 and S3 deliver scalable, secure cloud infrastructure — validating our AWS foundation for real-time evidence hosting.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8412480" cy="1207008"/>
          </a:xfrm>
          <a:prstGeom prst="rect">
            <a:avLst/>
          </a:prstGeom>
          <a:solidFill>
            <a:srgbClr val="EBF3FB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67712"/>
            <a:ext cx="109728" cy="120700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591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IJCS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37360" y="2359152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"Cloud-Based Evidence Management for Digital Forensics"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74320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tamper-proof evidence storage via cryptographic hashing + cloud object lock — directly backing our S3 + KMS design.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65760" y="3621024"/>
            <a:ext cx="8412480" cy="1207008"/>
          </a:xfrm>
          <a:prstGeom prst="rect">
            <a:avLst/>
          </a:prstGeom>
          <a:solidFill>
            <a:srgbClr val="EBF3FB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21024"/>
            <a:ext cx="109728" cy="120700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124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Springer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3712464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"IoT-Based Emergency Alert System with Location Tracking"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09651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real-time GPS capture and SMS alerts via IoT — highlighting the need for integrated alert + evidence systems our project provides.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68096"/>
            <a:ext cx="8321040" cy="54864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Current Systems Do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3977640" cy="0"/>
          </a:xfrm>
          <a:prstGeom prst="line">
            <a:avLst/>
          </a:prstGeom>
          <a:noFill/>
          <a:ln w="19050">
            <a:solidFill>
              <a:srgbClr val="1A56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8961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FAIL to Do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00600" y="1280160"/>
            <a:ext cx="3977640" cy="0"/>
          </a:xfrm>
          <a:prstGeom prst="line">
            <a:avLst/>
          </a:prstGeom>
          <a:noFill/>
          <a:ln w="19050">
            <a:solidFill>
              <a:srgbClr val="0D2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8988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Send panic button alerts to contacts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98424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Share real-time GPS location only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Notify via SMS or app notification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317296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Show basic incident information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138988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 audio or image evidence captured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198424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 tamper-proof cloud storage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257860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 encryption of collected data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317296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 audit trail or chain of custody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00600" y="376732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 integrated evidence + alert system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4224528"/>
            <a:ext cx="8412480" cy="658368"/>
          </a:xfrm>
          <a:prstGeom prst="rect">
            <a:avLst/>
          </a:prstGeom>
          <a:solidFill>
            <a:srgbClr val="EBF3FB"/>
          </a:solidFill>
          <a:ln w="15240">
            <a:solidFill>
              <a:srgbClr val="1A56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2245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 :  Existing tools alert but never preserve evidence.  Our Digital Witness System solves this.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68096"/>
            <a:ext cx="8321040" cy="54864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420624" cy="47548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32688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05256" y="932688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Digital Witness System on AWS that auto-collects evidence when emergency is triggered.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11480" y="1527048"/>
            <a:ext cx="420624" cy="47548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27048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05256" y="1527048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audio, images, GPS coordinates and timestamp via HTML5 APIs on the user's browser.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1480" y="2121408"/>
            <a:ext cx="420624" cy="47548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21408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05256" y="2121408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all evidence securely over HTTPS to AWS Lambda for serverless processing.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11480" y="2715768"/>
            <a:ext cx="420624" cy="47548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15768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05256" y="2715768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evidence files in Amazon S3 with object lock; write case metadata to DynamoDB.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11480" y="3310128"/>
            <a:ext cx="420624" cy="47548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310128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05256" y="3310128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all data using AWS KMS; enforce least-privilege access via IAM policies.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11480" y="3904488"/>
            <a:ext cx="420624" cy="47548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904488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05256" y="3904488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action with CloudTrail; monitor with CloudWatch for forensic audit integrity.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11480" y="4498848"/>
            <a:ext cx="420624" cy="47548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498848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05256" y="4498848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real-time SMS and email alerts to contacts and authorities via Amazon SNS.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68096"/>
            <a:ext cx="8321040" cy="54864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" y="932688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691640" y="886968"/>
            <a:ext cx="315468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6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886968"/>
            <a:ext cx="3154680" cy="329184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88696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Button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64792" y="1234440"/>
            <a:ext cx="3008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Trigger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74920" y="886968"/>
            <a:ext cx="315468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6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4920" y="886968"/>
            <a:ext cx="3154680" cy="329184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88696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/ Mic / GPS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48072" y="1234440"/>
            <a:ext cx="3008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Evidence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55264" y="1572768"/>
            <a:ext cx="0" cy="128016"/>
          </a:xfrm>
          <a:prstGeom prst="line">
            <a:avLst/>
          </a:prstGeom>
          <a:noFill/>
          <a:ln w="25400">
            <a:solidFill>
              <a:srgbClr val="1A56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63824" y="166420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6B0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" y="178308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691640" y="1737360"/>
            <a:ext cx="315468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91640" y="1737360"/>
            <a:ext cx="3154680" cy="329184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173736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 — AWS Cognito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64792" y="2084832"/>
            <a:ext cx="3008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74920" y="1737360"/>
            <a:ext cx="315468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4920" y="1737360"/>
            <a:ext cx="3154680" cy="329184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173736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— AWS IAM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48072" y="2084832"/>
            <a:ext cx="3008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55264" y="2423160"/>
            <a:ext cx="0" cy="128016"/>
          </a:xfrm>
          <a:prstGeom prst="line">
            <a:avLst/>
          </a:prstGeom>
          <a:noFill/>
          <a:ln w="25400">
            <a:solidFill>
              <a:srgbClr val="1A56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63824" y="251460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6B0"/>
                </a:solidFill>
              </a:rPr>
              <a:t>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" y="263347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Processing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691640" y="2587752"/>
            <a:ext cx="315468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7B4F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91640" y="2587752"/>
            <a:ext cx="3154680" cy="329184"/>
          </a:xfrm>
          <a:prstGeom prst="rect">
            <a:avLst/>
          </a:prstGeom>
          <a:solidFill>
            <a:srgbClr val="7B4F00"/>
          </a:solidFill>
          <a:ln w="12700">
            <a:solidFill>
              <a:srgbClr val="7B4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91640" y="258775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Logic — AWS Lambda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764792" y="2935224"/>
            <a:ext cx="3008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event handler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74920" y="2587752"/>
            <a:ext cx="315468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7B4F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74920" y="2587752"/>
            <a:ext cx="3154680" cy="329184"/>
          </a:xfrm>
          <a:prstGeom prst="rect">
            <a:avLst/>
          </a:prstGeom>
          <a:solidFill>
            <a:srgbClr val="7B4F00"/>
          </a:solidFill>
          <a:ln w="12700">
            <a:solidFill>
              <a:srgbClr val="7B4F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258775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— AWS KMS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48072" y="2935224"/>
            <a:ext cx="3008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encrypted at rest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255264" y="3273552"/>
            <a:ext cx="0" cy="128016"/>
          </a:xfrm>
          <a:prstGeom prst="line">
            <a:avLst/>
          </a:prstGeom>
          <a:noFill/>
          <a:ln w="25400">
            <a:solidFill>
              <a:srgbClr val="1A56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63824" y="336499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6B0"/>
                </a:solidFill>
              </a:rPr>
              <a:t>▼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" y="3483864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A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691640" y="3438144"/>
            <a:ext cx="315468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4F8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91640" y="3438144"/>
            <a:ext cx="3154680" cy="329184"/>
          </a:xfrm>
          <a:prstGeom prst="rect">
            <a:avLst/>
          </a:prstGeom>
          <a:solidFill>
            <a:srgbClr val="1A4F8B"/>
          </a:solidFill>
          <a:ln w="12700">
            <a:solidFill>
              <a:srgbClr val="1A4F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91640" y="343814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Files — Amazon S3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764792" y="3785616"/>
            <a:ext cx="3008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object store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074920" y="3438144"/>
            <a:ext cx="315468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4F8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74920" y="3438144"/>
            <a:ext cx="3154680" cy="329184"/>
          </a:xfrm>
          <a:prstGeom prst="rect">
            <a:avLst/>
          </a:prstGeom>
          <a:solidFill>
            <a:srgbClr val="1A4F8B"/>
          </a:solidFill>
          <a:ln w="12700">
            <a:solidFill>
              <a:srgbClr val="1A4F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4920" y="343814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Metadata — DynamoDB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48072" y="3785616"/>
            <a:ext cx="3008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&amp; case records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255264" y="4123944"/>
            <a:ext cx="0" cy="128016"/>
          </a:xfrm>
          <a:prstGeom prst="line">
            <a:avLst/>
          </a:prstGeom>
          <a:noFill/>
          <a:ln w="25400">
            <a:solidFill>
              <a:srgbClr val="1A56B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63824" y="421538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6B0"/>
                </a:solidFill>
              </a:rPr>
              <a:t>▼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" y="4334256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7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1691640" y="4288536"/>
            <a:ext cx="315468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7B1A1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691640" y="4288536"/>
            <a:ext cx="3154680" cy="329184"/>
          </a:xfrm>
          <a:prstGeom prst="rect">
            <a:avLst/>
          </a:prstGeom>
          <a:solidFill>
            <a:srgbClr val="7B1A1A"/>
          </a:solidFill>
          <a:ln w="12700">
            <a:solidFill>
              <a:srgbClr val="7B1A1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691640" y="428853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+ CloudTrail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764792" y="4636008"/>
            <a:ext cx="3008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monitor &amp; audit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5074920" y="4288536"/>
            <a:ext cx="315468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7B1A1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74920" y="4288536"/>
            <a:ext cx="3154680" cy="329184"/>
          </a:xfrm>
          <a:prstGeom prst="rect">
            <a:avLst/>
          </a:prstGeom>
          <a:solidFill>
            <a:srgbClr val="7B1A1A"/>
          </a:solidFill>
          <a:ln w="12700">
            <a:solidFill>
              <a:srgbClr val="7B1A1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74920" y="428853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SNS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148072" y="4636008"/>
            <a:ext cx="3008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SMS / Email alerts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3273552" y="168249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CDE0"/>
                </a:solidFill>
              </a:rPr>
              <a:t>HTTPS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68096"/>
            <a:ext cx="8321040" cy="54864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91840" y="1874520"/>
            <a:ext cx="2560320" cy="10972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18745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(Core Processor)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2423160" cy="731520"/>
          </a:xfrm>
          <a:prstGeom prst="rect">
            <a:avLst/>
          </a:prstGeom>
          <a:solidFill>
            <a:srgbClr val="EBF3FB"/>
          </a:solidFill>
          <a:ln w="16510">
            <a:solidFill>
              <a:srgbClr val="1A56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229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Button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 Trigger)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1188720"/>
            <a:ext cx="640080" cy="0"/>
          </a:xfrm>
          <a:prstGeom prst="line">
            <a:avLst/>
          </a:prstGeom>
          <a:noFill/>
          <a:ln w="22860">
            <a:solidFill>
              <a:srgbClr val="1A56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5536" y="1060704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56B0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783080"/>
            <a:ext cx="2423160" cy="731520"/>
          </a:xfrm>
          <a:prstGeom prst="rect">
            <a:avLst/>
          </a:prstGeom>
          <a:solidFill>
            <a:srgbClr val="EBF3FB"/>
          </a:solidFill>
          <a:ln w="16510">
            <a:solidFill>
              <a:srgbClr val="1A56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7830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 / Video)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51760" y="2148840"/>
            <a:ext cx="640080" cy="0"/>
          </a:xfrm>
          <a:prstGeom prst="line">
            <a:avLst/>
          </a:prstGeom>
          <a:noFill/>
          <a:ln w="22860">
            <a:solidFill>
              <a:srgbClr val="1A56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45536" y="2020824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56B0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2743200"/>
            <a:ext cx="2423160" cy="731520"/>
          </a:xfrm>
          <a:prstGeom prst="rect">
            <a:avLst/>
          </a:prstGeom>
          <a:solidFill>
            <a:srgbClr val="EBF3FB"/>
          </a:solidFill>
          <a:ln w="16510">
            <a:solidFill>
              <a:srgbClr val="1A56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7432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Capture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(Audio Evidence)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51760" y="3108960"/>
            <a:ext cx="640080" cy="0"/>
          </a:xfrm>
          <a:prstGeom prst="line">
            <a:avLst/>
          </a:prstGeom>
          <a:noFill/>
          <a:ln w="22860">
            <a:solidFill>
              <a:srgbClr val="1A56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45536" y="2980944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56B0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3703320"/>
            <a:ext cx="2423160" cy="731520"/>
          </a:xfrm>
          <a:prstGeom prst="rect">
            <a:avLst/>
          </a:prstGeom>
          <a:solidFill>
            <a:srgbClr val="EBF3FB"/>
          </a:solidFill>
          <a:ln w="16510">
            <a:solidFill>
              <a:srgbClr val="1A56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7033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Timestamp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(Location &amp; Time)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51760" y="4069080"/>
            <a:ext cx="640080" cy="0"/>
          </a:xfrm>
          <a:prstGeom prst="line">
            <a:avLst/>
          </a:prstGeom>
          <a:noFill/>
          <a:ln w="22860">
            <a:solidFill>
              <a:srgbClr val="1A56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45536" y="3941064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56B0"/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822960"/>
            <a:ext cx="2423160" cy="731520"/>
          </a:xfrm>
          <a:prstGeom prst="rect">
            <a:avLst/>
          </a:prstGeom>
          <a:solidFill>
            <a:srgbClr val="EBF3FB"/>
          </a:solidFill>
          <a:ln w="16510">
            <a:solidFill>
              <a:srgbClr val="4A90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822960"/>
            <a:ext cx="2423160" cy="31089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8229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11430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files (tamper-proof)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52160" y="1188720"/>
            <a:ext cx="640080" cy="0"/>
          </a:xfrm>
          <a:prstGeom prst="line">
            <a:avLst/>
          </a:prstGeom>
          <a:noFill/>
          <a:ln w="22860">
            <a:solidFill>
              <a:srgbClr val="4A90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1060704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</a:rPr>
              <a:t>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92240" y="1783080"/>
            <a:ext cx="2423160" cy="731520"/>
          </a:xfrm>
          <a:prstGeom prst="rect">
            <a:avLst/>
          </a:prstGeom>
          <a:solidFill>
            <a:srgbClr val="EBF3FB"/>
          </a:solidFill>
          <a:ln w="16510">
            <a:solidFill>
              <a:srgbClr val="4A90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1783080"/>
            <a:ext cx="2423160" cy="31089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178308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92240" y="21031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metadata &amp; timestamps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52160" y="2148840"/>
            <a:ext cx="640080" cy="0"/>
          </a:xfrm>
          <a:prstGeom prst="line">
            <a:avLst/>
          </a:prstGeom>
          <a:noFill/>
          <a:ln w="22860">
            <a:solidFill>
              <a:srgbClr val="4A90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2020824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</a:rPr>
              <a:t>▶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92240" y="2743200"/>
            <a:ext cx="2423160" cy="731520"/>
          </a:xfrm>
          <a:prstGeom prst="rect">
            <a:avLst/>
          </a:prstGeom>
          <a:solidFill>
            <a:srgbClr val="EBF3FB"/>
          </a:solidFill>
          <a:ln w="16510">
            <a:solidFill>
              <a:srgbClr val="4A90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2743200"/>
            <a:ext cx="2423160" cy="31089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274320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92240" y="3063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SMS / Email alerts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852160" y="3108960"/>
            <a:ext cx="640080" cy="0"/>
          </a:xfrm>
          <a:prstGeom prst="line">
            <a:avLst/>
          </a:prstGeom>
          <a:noFill/>
          <a:ln w="22860">
            <a:solidFill>
              <a:srgbClr val="4A90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64224" y="2980944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</a:rPr>
              <a:t>▶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92240" y="3703320"/>
            <a:ext cx="2423160" cy="731520"/>
          </a:xfrm>
          <a:prstGeom prst="rect">
            <a:avLst/>
          </a:prstGeom>
          <a:solidFill>
            <a:srgbClr val="EBF3FB"/>
          </a:solidFill>
          <a:ln w="16510">
            <a:solidFill>
              <a:srgbClr val="4A90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92240" y="3703320"/>
            <a:ext cx="2423160" cy="31089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370332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92240" y="40233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852160" y="4069080"/>
            <a:ext cx="640080" cy="0"/>
          </a:xfrm>
          <a:prstGeom prst="line">
            <a:avLst/>
          </a:prstGeom>
          <a:noFill/>
          <a:ln w="22860">
            <a:solidFill>
              <a:srgbClr val="4A90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64224" y="3941064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</a:rPr>
              <a:t>▶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28600" y="46451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492240" y="46451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OUTPUTS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Project Works — Step by Step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68096"/>
            <a:ext cx="8321040" cy="54864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86968"/>
            <a:ext cx="4160520" cy="969264"/>
          </a:xfrm>
          <a:prstGeom prst="rect">
            <a:avLst/>
          </a:prstGeom>
          <a:solidFill>
            <a:srgbClr val="EBF3FB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86968"/>
            <a:ext cx="502920" cy="969264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86968"/>
            <a:ext cx="502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9784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Triggers Emergency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134416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Presses emergency button on browser/app. Camera, mic and GPS activate instantly via HTML5 APIs.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947672"/>
            <a:ext cx="4160520" cy="969264"/>
          </a:xfrm>
          <a:prstGeom prst="rect">
            <a:avLst/>
          </a:prstGeom>
          <a:solidFill>
            <a:srgbClr val="EBF3FB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947672"/>
            <a:ext cx="502920" cy="969264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47672"/>
            <a:ext cx="502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20391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Captures Evidence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240487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Audio, image, GPS coordinates and timestamp are collected simultaneously on the user's device.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008376"/>
            <a:ext cx="4160520" cy="969264"/>
          </a:xfrm>
          <a:prstGeom prst="rect">
            <a:avLst/>
          </a:prstGeom>
          <a:solidFill>
            <a:srgbClr val="EBF3FB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008376"/>
            <a:ext cx="502920" cy="969264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08376"/>
            <a:ext cx="502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30998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Transmission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346557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sent over HTTPS to AWS Lambda. AWS Cognito authenticates the user before upload begins.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069080"/>
            <a:ext cx="4160520" cy="969264"/>
          </a:xfrm>
          <a:prstGeom prst="rect">
            <a:avLst/>
          </a:prstGeom>
          <a:solidFill>
            <a:srgbClr val="EBF3FB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4069080"/>
            <a:ext cx="502920" cy="969264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069080"/>
            <a:ext cx="502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41605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Processes Data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" y="452628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encrypts evidence via KMS, writes files to S3 and case metadata to DynamoDB.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886968"/>
            <a:ext cx="4160520" cy="969264"/>
          </a:xfrm>
          <a:prstGeom prst="rect">
            <a:avLst/>
          </a:prstGeom>
          <a:solidFill>
            <a:srgbClr val="EBF3FB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886968"/>
            <a:ext cx="502920" cy="969264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886968"/>
            <a:ext cx="502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03520" y="9784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Secured in Cloud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03520" y="134416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stores files with object lock (tamper-proof). DynamoDB records case ID, time and location.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09160" y="1947672"/>
            <a:ext cx="4160520" cy="969264"/>
          </a:xfrm>
          <a:prstGeom prst="rect">
            <a:avLst/>
          </a:prstGeom>
          <a:solidFill>
            <a:srgbClr val="EBF3FB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1947672"/>
            <a:ext cx="502920" cy="969264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1947672"/>
            <a:ext cx="502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03520" y="20391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Dispatched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03520" y="240487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sends real-time SMS and email to pre-registered contacts and authorities instantly.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09160" y="3008376"/>
            <a:ext cx="4160520" cy="969264"/>
          </a:xfrm>
          <a:prstGeom prst="rect">
            <a:avLst/>
          </a:prstGeom>
          <a:solidFill>
            <a:srgbClr val="EBF3FB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008376"/>
            <a:ext cx="502920" cy="969264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008376"/>
            <a:ext cx="502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303520" y="30998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Audit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303520" y="346557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monitors system health. CloudTrail logs every API action for forensic chain of custody.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68096"/>
            <a:ext cx="8321040" cy="54864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41248"/>
          <a:ext cx="539496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859536"/>
            <a:ext cx="2926080" cy="841248"/>
          </a:xfrm>
          <a:prstGeom prst="rect">
            <a:avLst/>
          </a:prstGeom>
          <a:solidFill>
            <a:srgbClr val="EBF3FB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8961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sec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0" y="13350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capture time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0" y="1837944"/>
            <a:ext cx="2926080" cy="841248"/>
          </a:xfrm>
          <a:prstGeom prst="rect">
            <a:avLst/>
          </a:prstGeom>
          <a:solidFill>
            <a:srgbClr val="EBF3FB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187452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943600" y="23134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durability SLA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43600" y="2816352"/>
            <a:ext cx="2926080" cy="841248"/>
          </a:xfrm>
          <a:prstGeom prst="rect">
            <a:avLst/>
          </a:prstGeom>
          <a:solidFill>
            <a:srgbClr val="EBF3FB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285292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943600" y="32918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encryption standard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0" y="3794760"/>
            <a:ext cx="2926080" cy="841248"/>
          </a:xfrm>
          <a:prstGeom prst="rect">
            <a:avLst/>
          </a:prstGeom>
          <a:solidFill>
            <a:srgbClr val="EBF3FB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383133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5943600" y="42702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alert delivery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68096"/>
            <a:ext cx="8321040" cy="54864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86968"/>
            <a:ext cx="4160520" cy="1261872"/>
          </a:xfrm>
          <a:prstGeom prst="rect">
            <a:avLst/>
          </a:prstGeom>
          <a:solidFill>
            <a:srgbClr val="EBF3FB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86968"/>
            <a:ext cx="4160520" cy="347472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869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Automated Evidence Capture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289304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action needed — audio, image, GPS and timestamp captured the instant emergency is triggered.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09160" y="886968"/>
            <a:ext cx="4160520" cy="1261872"/>
          </a:xfrm>
          <a:prstGeom prst="rect">
            <a:avLst/>
          </a:prstGeom>
          <a:solidFill>
            <a:srgbClr val="EBF3FB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886968"/>
            <a:ext cx="4160520" cy="347472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8869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Tamper-Proof Storage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18888" y="1289304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object lock prevents any modification or deletion — evidence is legally admissible in court.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2304288"/>
            <a:ext cx="4160520" cy="1261872"/>
          </a:xfrm>
          <a:prstGeom prst="rect">
            <a:avLst/>
          </a:prstGeom>
          <a:solidFill>
            <a:srgbClr val="EBF3FB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304288"/>
            <a:ext cx="4160520" cy="347472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042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End-to-End Encryption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" y="2706624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KMS encrypts all evidence at rest and in transit — complete data confidentiality guaranteed.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709160" y="2304288"/>
            <a:ext cx="4160520" cy="1261872"/>
          </a:xfrm>
          <a:prstGeom prst="rect">
            <a:avLst/>
          </a:prstGeom>
          <a:solidFill>
            <a:srgbClr val="EBF3FB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304288"/>
            <a:ext cx="4160520" cy="347472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3042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Real-Time Alerts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18888" y="2706624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SNS notifies authorized contacts within milliseconds — zero delay in emergency response.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274320" y="3721608"/>
            <a:ext cx="4160520" cy="1261872"/>
          </a:xfrm>
          <a:prstGeom prst="rect">
            <a:avLst/>
          </a:prstGeom>
          <a:solidFill>
            <a:srgbClr val="EBF3FB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721608"/>
            <a:ext cx="4160520" cy="347472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7216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Serverless &amp; Scalable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" y="4123944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scales automatically with zero infrastructure — works reliably under any load or volume.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709160" y="3721608"/>
            <a:ext cx="4160520" cy="1261872"/>
          </a:xfrm>
          <a:prstGeom prst="rect">
            <a:avLst/>
          </a:prstGeom>
          <a:solidFill>
            <a:srgbClr val="EBF3FB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721608"/>
            <a:ext cx="4160520" cy="347472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37216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Complete Audit Trail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18888" y="4123944"/>
            <a:ext cx="3977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logs every action — forensically sound chain of custody for every piece of evidence.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68096"/>
            <a:ext cx="8321040" cy="54864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8412480" cy="960120"/>
          </a:xfrm>
          <a:prstGeom prst="rect">
            <a:avLst/>
          </a:prstGeom>
          <a:solidFill>
            <a:srgbClr val="EBF3FB"/>
          </a:solidFill>
          <a:ln w="15240">
            <a:solidFill>
              <a:srgbClr val="1A56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86968"/>
            <a:ext cx="109728" cy="960120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886968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Witness System closes the critical gap between emergency alerting and tamper-proof evidence preservation — making every emergency legally documentable and ready for forensic use.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0"/>
          </a:xfrm>
          <a:prstGeom prst="line">
            <a:avLst/>
          </a:prstGeom>
          <a:noFill/>
          <a:ln w="7620">
            <a:solidFill>
              <a:srgbClr val="C0C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011680"/>
            <a:ext cx="420624" cy="47548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11680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05256" y="2011680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evidence collection — no human action needed during any emergency.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11480" y="2596896"/>
            <a:ext cx="420624" cy="47548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96896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05256" y="2596896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+ DynamoDB provide tamper-proof, highly durable storage for all captured evidence.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11480" y="3182112"/>
            <a:ext cx="420624" cy="47548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82112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05256" y="3182112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encryption and IAM policies ensure complete data security and strict access control.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11480" y="3767328"/>
            <a:ext cx="420624" cy="47548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767328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05256" y="3767328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alerts ensure authorities and contacts are notified instantly — zero delay guaranteed.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11480" y="4352544"/>
            <a:ext cx="420624" cy="47548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352544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05256" y="4352544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audit logs provide a forensically sound chain of custody for every file.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11480" y="4937760"/>
            <a:ext cx="420624" cy="475488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937760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05256" y="4937760"/>
            <a:ext cx="7827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real-world deployment as a web or mobile application.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68096"/>
            <a:ext cx="8321040" cy="54864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86968"/>
            <a:ext cx="4160520" cy="1261872"/>
          </a:xfrm>
          <a:prstGeom prst="rect">
            <a:avLst/>
          </a:prstGeom>
          <a:solidFill>
            <a:srgbClr val="EBF3FB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32688" y="1024128"/>
            <a:ext cx="0" cy="914400"/>
          </a:xfrm>
          <a:prstGeom prst="line">
            <a:avLst/>
          </a:prstGeom>
          <a:noFill/>
          <a:ln w="10160">
            <a:solidFill>
              <a:srgbClr val="C0CD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9784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Threat Detection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134416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AWS Rekognition to auto-classify threats from captured images using machine learning.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09160" y="886968"/>
            <a:ext cx="4160520" cy="1261872"/>
          </a:xfrm>
          <a:prstGeom prst="rect">
            <a:avLst/>
          </a:prstGeom>
          <a:solidFill>
            <a:srgbClr val="EBF3FB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367528" y="1024128"/>
            <a:ext cx="0" cy="914400"/>
          </a:xfrm>
          <a:prstGeom prst="line">
            <a:avLst/>
          </a:prstGeom>
          <a:noFill/>
          <a:ln w="10160">
            <a:solidFill>
              <a:srgbClr val="C0CD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9784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Device Support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134416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smartwatches and IoT GPS trackers for silent, hands-free emergency triggers.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74320" y="2304288"/>
            <a:ext cx="4160520" cy="1261872"/>
          </a:xfrm>
          <a:prstGeom prst="rect">
            <a:avLst/>
          </a:prstGeom>
          <a:solidFill>
            <a:srgbClr val="EBF3FB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32688" y="2441448"/>
            <a:ext cx="0" cy="914400"/>
          </a:xfrm>
          <a:prstGeom prst="line">
            <a:avLst/>
          </a:prstGeom>
          <a:noFill/>
          <a:ln w="10160">
            <a:solidFill>
              <a:srgbClr val="C0CD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39572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Ledger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276148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Hyperledger for an immutable, decentralized chain of custody for all evidence.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709160" y="2304288"/>
            <a:ext cx="4160520" cy="1261872"/>
          </a:xfrm>
          <a:prstGeom prst="rect">
            <a:avLst/>
          </a:prstGeom>
          <a:solidFill>
            <a:srgbClr val="EBF3FB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367528" y="2441448"/>
            <a:ext cx="0" cy="914400"/>
          </a:xfrm>
          <a:prstGeom prst="line">
            <a:avLst/>
          </a:prstGeom>
          <a:noFill/>
          <a:ln w="10160">
            <a:solidFill>
              <a:srgbClr val="C0CD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239572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0" y="276148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Android / iOS app via AWS Amplify for seamless on-the-go evidence capture.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74320" y="3721608"/>
            <a:ext cx="4160520" cy="1261872"/>
          </a:xfrm>
          <a:prstGeom prst="rect">
            <a:avLst/>
          </a:prstGeom>
          <a:solidFill>
            <a:srgbClr val="EBF3FB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32688" y="3858768"/>
            <a:ext cx="0" cy="914400"/>
          </a:xfrm>
          <a:prstGeom prst="line">
            <a:avLst/>
          </a:prstGeom>
          <a:noFill/>
          <a:ln w="10160">
            <a:solidFill>
              <a:srgbClr val="C0CD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38130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Enforcement API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51560" y="417880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secure API endpoints to share evidence directly with police or emergency services.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709160" y="3721608"/>
            <a:ext cx="4160520" cy="1261872"/>
          </a:xfrm>
          <a:prstGeom prst="rect">
            <a:avLst/>
          </a:prstGeom>
          <a:solidFill>
            <a:srgbClr val="EBF3FB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367528" y="3858768"/>
            <a:ext cx="0" cy="914400"/>
          </a:xfrm>
          <a:prstGeom prst="line">
            <a:avLst/>
          </a:prstGeom>
          <a:noFill/>
          <a:ln w="10160">
            <a:solidFill>
              <a:srgbClr val="C0CD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38130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UI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6400" y="417880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regional Indian languages for wider accessibility across urban and rural areas.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68096"/>
            <a:ext cx="8321040" cy="54864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64008" cy="411480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"Binar Bits: A Tech Blog Website Platform Hosted on AWS EC2," IEEE Xplore, 2023.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8412480" cy="0"/>
          </a:xfrm>
          <a:prstGeom prst="line">
            <a:avLst/>
          </a:prstGeom>
          <a:noFill/>
          <a:ln w="5080">
            <a:solidFill>
              <a:srgbClr val="C0CD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89888"/>
            <a:ext cx="64008" cy="411480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898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R. Kumar et al., "Cloud-Based Evidence Management for Digital Forensics," IJCS, vol. 12, pp. 45–58, 2023.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8412480" cy="0"/>
          </a:xfrm>
          <a:prstGeom prst="line">
            <a:avLst/>
          </a:prstGeom>
          <a:noFill/>
          <a:ln w="5080">
            <a:solidFill>
              <a:srgbClr val="C0CD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11096"/>
            <a:ext cx="64008" cy="411480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110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P. Singh et al., "IoT-Based Emergency Alert System with Location Tracking," Springer, 2022.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5760" y="2395728"/>
            <a:ext cx="8412480" cy="0"/>
          </a:xfrm>
          <a:prstGeom prst="line">
            <a:avLst/>
          </a:prstGeom>
          <a:noFill/>
          <a:ln w="5080">
            <a:solidFill>
              <a:srgbClr val="C0CD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32304"/>
            <a:ext cx="64008" cy="411480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323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Amazon Web Services, "Amazon S3 Security Best Practices," AWS Documentation, 2024.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5760" y="2916936"/>
            <a:ext cx="8412480" cy="0"/>
          </a:xfrm>
          <a:prstGeom prst="line">
            <a:avLst/>
          </a:prstGeom>
          <a:noFill/>
          <a:ln w="5080">
            <a:solidFill>
              <a:srgbClr val="C0CD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53512"/>
            <a:ext cx="64008" cy="411480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535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Amazon Web Services, "AWS Lambda Developer Guide," AWS Documentation, 2024.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65760" y="3438144"/>
            <a:ext cx="8412480" cy="0"/>
          </a:xfrm>
          <a:prstGeom prst="line">
            <a:avLst/>
          </a:prstGeom>
          <a:noFill/>
          <a:ln w="5080">
            <a:solidFill>
              <a:srgbClr val="C0CD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74720"/>
            <a:ext cx="64008" cy="411480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Amazon Web Services, "Amazon DynamoDB Developer Guide," AWS Documentation, 2024.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65760" y="3959352"/>
            <a:ext cx="8412480" cy="0"/>
          </a:xfrm>
          <a:prstGeom prst="line">
            <a:avLst/>
          </a:prstGeom>
          <a:noFill/>
          <a:ln w="5080">
            <a:solidFill>
              <a:srgbClr val="C0CD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995928"/>
            <a:ext cx="64008" cy="411480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995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Amazon Web Services, "AWS Key Management Service Guide," AWS Documentation, 2024.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65760" y="4480560"/>
            <a:ext cx="8412480" cy="0"/>
          </a:xfrm>
          <a:prstGeom prst="line">
            <a:avLst/>
          </a:prstGeom>
          <a:noFill/>
          <a:ln w="5080">
            <a:solidFill>
              <a:srgbClr val="C0CD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517136"/>
            <a:ext cx="64008" cy="411480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5171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Amazon Web Services, "Amazon SNS Developer Guide," AWS Documentation, 2024.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05840"/>
            <a:ext cx="9144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3" name="Shape 1"/>
          <p:cNvSpPr/>
          <p:nvPr/>
        </p:nvSpPr>
        <p:spPr>
          <a:xfrm>
            <a:off x="1371600" y="2670048"/>
            <a:ext cx="6400800" cy="73152"/>
          </a:xfrm>
          <a:prstGeom prst="rect">
            <a:avLst/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816352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valuable questions and feedback.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Witness System for Automated and Secure Evidence Collection Using AWS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953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Archana   |   A. Mahalakshmi   |   S. Evanglin Monica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3159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:  Mrs. A. Tamizhselvi, M.E.,  Assistant Professor  —  Dept. of Computer Science and Engineering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0" y="4892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0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2026-05-04T10:36:41Z</dcterms:created>
  <dcterms:modified xsi:type="dcterms:W3CDTF">2026-05-04T10:36:41Z</dcterms:modified>
</cp:coreProperties>
</file>